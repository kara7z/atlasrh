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5" r:id="rId16"/>
    <p:sldId id="266" r:id="rId17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hyperlink" Target="http://localhost:8081/swagger-ui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SOUTENANCE · ATLASRH V1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01</a:t>
            </a:r>
          </a:p>
        </p:txBody>
      </p:sp>
      <p:pic>
        <p:nvPicPr>
          <p:cNvPr id="8" name="Picture 7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812280" y="804672"/>
            <a:ext cx="5074920" cy="5074920"/>
          </a:xfrm>
          <a:prstGeom prst="ellipse">
            <a:avLst/>
          </a:prstGeom>
          <a:solidFill>
            <a:srgbClr val="3C3453"/>
          </a:solidFill>
          <a:ln w="8890">
            <a:solidFill>
              <a:srgbClr val="DAD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68312" y="1060704"/>
            <a:ext cx="4572000" cy="4572000"/>
          </a:xfrm>
          <a:prstGeom prst="ellipse">
            <a:avLst/>
          </a:prstGeom>
          <a:solidFill>
            <a:srgbClr val="5A4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m_ellipse_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188720"/>
            <a:ext cx="4251960" cy="4251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1298448"/>
            <a:ext cx="1847088" cy="329184"/>
          </a:xfrm>
          <a:prstGeom prst="roundRect">
            <a:avLst>
              <a:gd name="adj" fmla="val 45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357884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B9A4ED"/>
                </a:solidFill>
                <a:latin typeface="Arial"/>
              </a:defRPr>
            </a:pPr>
            <a:r>
              <a:t>SYSTÈME RH ·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658368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600" b="0" i="0">
                <a:solidFill>
                  <a:srgbClr val="F0EDF8"/>
                </a:solidFill>
                <a:latin typeface="Palatino Linotype"/>
              </a:defRPr>
            </a:pPr>
            <a:r>
              <a:t>AtlasRH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218688"/>
            <a:ext cx="60807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0" i="0">
                <a:solidFill>
                  <a:srgbClr val="F0EDF8"/>
                </a:solidFill>
                <a:latin typeface="Palatino Linotype"/>
              </a:defRPr>
            </a:pPr>
            <a:r>
              <a:t>L’humain au centre.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900" b="0" i="0">
                <a:solidFill>
                  <a:srgbClr val="F0EDF8"/>
                </a:solidFill>
                <a:latin typeface="Palatino Linotype"/>
              </a:defRPr>
            </a:pPr>
            <a:r>
              <a:t>La donnée en confiance.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Une API REST pour des parcours RH plus clairs.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96128"/>
            <a:ext cx="1572768" cy="329184"/>
          </a:xfrm>
          <a:prstGeom prst="roundRect">
            <a:avLst>
              <a:gd name="adj" fmla="val 45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55564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B9A4ED"/>
                </a:solidFill>
                <a:latin typeface="Arial"/>
              </a:defRPr>
            </a:pPr>
            <a:r>
              <a:t>SPRING BOOT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2304" y="5596128"/>
            <a:ext cx="1188720" cy="329184"/>
          </a:xfrm>
          <a:prstGeom prst="roundRect">
            <a:avLst>
              <a:gd name="adj" fmla="val 45000"/>
            </a:avLst>
          </a:prstGeom>
          <a:solidFill>
            <a:srgbClr val="273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5655564"/>
            <a:ext cx="9692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8FC9BE"/>
                </a:solidFill>
                <a:latin typeface="Arial"/>
              </a:defRPr>
            </a:pPr>
            <a:r>
              <a:t>JAVA 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5596128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44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565556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D7A0BD"/>
                </a:solidFill>
                <a:latin typeface="Arial"/>
              </a:defRPr>
            </a:pPr>
            <a:r>
              <a:t>API 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5093208"/>
            <a:ext cx="2798064" cy="603504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team_B9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5212080"/>
            <a:ext cx="338328" cy="338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15400" y="5285232"/>
            <a:ext cx="20025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0" i="0">
                <a:solidFill>
                  <a:srgbClr val="B6AFC8"/>
                </a:solidFill>
                <a:latin typeface="Arial"/>
              </a:defRPr>
            </a:pPr>
            <a:r>
              <a:t>Pensé pour 250 personnes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01 · LES UTILISATEURS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881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000" b="0" i="0">
                <a:solidFill>
                  <a:srgbClr val="F0EDF8"/>
                </a:solidFill>
                <a:latin typeface="Palatino Linotype"/>
              </a:defRPr>
            </a:pPr>
            <a:r>
              <a:t>Trois rôles. Un même parcours.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299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Des responsabilités distinctes, des données partagées.</a:t>
            </a:r>
          </a:p>
        </p:txBody>
      </p:sp>
      <p:pic>
        <p:nvPicPr>
          <p:cNvPr id="10" name="Picture 9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" y="2798064"/>
            <a:ext cx="3429000" cy="315468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3026664"/>
            <a:ext cx="713232" cy="713232"/>
          </a:xfrm>
          <a:prstGeom prst="ellipse">
            <a:avLst/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uilding_B9A4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5468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1832" y="3922776"/>
            <a:ext cx="29718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0" i="0">
                <a:solidFill>
                  <a:srgbClr val="F0EDF8"/>
                </a:solidFill>
                <a:latin typeface="Palatino Linotype"/>
              </a:defRPr>
            </a:pPr>
            <a:r>
              <a:t>Responsable RH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90288"/>
            <a:ext cx="2971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Structurer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Départements · employés · contrats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2798064"/>
            <a:ext cx="3429000" cy="315468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9432" y="3026664"/>
            <a:ext cx="713232" cy="713232"/>
          </a:xfrm>
          <a:prstGeom prst="ellipse">
            <a:avLst/>
          </a:prstGeom>
          <a:solidFill>
            <a:srgbClr val="273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team_8FC9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15468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08576" y="3922776"/>
            <a:ext cx="29718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0" i="0">
                <a:solidFill>
                  <a:srgbClr val="F0EDF8"/>
                </a:solidFill>
                <a:latin typeface="Palatino Linotype"/>
              </a:defRPr>
            </a:pPr>
            <a:r>
              <a:t>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590288"/>
            <a:ext cx="2971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Décider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Équipe · approbation · refus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798064"/>
            <a:ext cx="3429000" cy="315468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6" y="3026664"/>
            <a:ext cx="713232" cy="713232"/>
          </a:xfrm>
          <a:prstGeom prst="ellipse">
            <a:avLst/>
          </a:prstGeom>
          <a:solidFill>
            <a:srgbClr val="44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person_D7A0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15468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5320" y="3922776"/>
            <a:ext cx="29718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0" i="0">
                <a:solidFill>
                  <a:srgbClr val="F0EDF8"/>
                </a:solidFill>
                <a:latin typeface="Palatino Linotype"/>
              </a:defRPr>
            </a:pPr>
            <a:r>
              <a:t>Employé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590288"/>
            <a:ext cx="2971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Agir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Demandes · suivi · solde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02 ·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881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000" b="0" i="0">
                <a:solidFill>
                  <a:srgbClr val="F0EDF8"/>
                </a:solidFill>
                <a:latin typeface="Palatino Linotype"/>
              </a:defRPr>
            </a:pPr>
            <a:r>
              <a:t>La simplicité, couche par couche.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299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Les entités restent dans le service. L’API échange des DTO.</a:t>
            </a:r>
          </a:p>
        </p:txBody>
      </p:sp>
      <p:pic>
        <p:nvPicPr>
          <p:cNvPr id="10" name="Picture 9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2971800"/>
            <a:ext cx="2148840" cy="205740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code_B9A4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273552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087368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 i="0">
                <a:solidFill>
                  <a:srgbClr val="F0EDF8"/>
                </a:solidFill>
                <a:latin typeface="Palatino Linotype"/>
              </a:defRPr>
            </a:pPr>
            <a: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617720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B6AFC8"/>
                </a:solidFill>
                <a:latin typeface="Arial"/>
              </a:defRPr>
            </a:pPr>
            <a:r>
              <a:t>HTTP · validation</a:t>
            </a:r>
          </a:p>
        </p:txBody>
      </p:sp>
      <p:pic>
        <p:nvPicPr>
          <p:cNvPr id="15" name="Picture 14" descr="icon_arrow_B9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3794760"/>
            <a:ext cx="429768" cy="4297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02736" y="2971800"/>
            <a:ext cx="2148840" cy="205740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layers_B9A4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3273552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94176" y="4087368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 i="0">
                <a:solidFill>
                  <a:srgbClr val="F0EDF8"/>
                </a:solidFill>
                <a:latin typeface="Palatino Linotype"/>
              </a:defRPr>
            </a:pPr>
            <a: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4617720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B6AFC8"/>
                </a:solidFill>
                <a:latin typeface="Arial"/>
              </a:defRPr>
            </a:pPr>
            <a:r>
              <a:t>Règles · transactions</a:t>
            </a:r>
          </a:p>
        </p:txBody>
      </p:sp>
      <p:pic>
        <p:nvPicPr>
          <p:cNvPr id="20" name="Picture 19" descr="icon_arrow_B9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794760"/>
            <a:ext cx="429768" cy="42976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73952" y="2971800"/>
            <a:ext cx="2148840" cy="205740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database_B9A4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3273552"/>
            <a:ext cx="594360" cy="594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65392" y="4087368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 i="0">
                <a:solidFill>
                  <a:srgbClr val="F0EDF8"/>
                </a:solidFill>
                <a:latin typeface="Palatino Linotype"/>
              </a:defRPr>
            </a:pPr>
            <a:r>
              <a:t>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617720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B6AFC8"/>
                </a:solidFill>
                <a:latin typeface="Arial"/>
              </a:defRPr>
            </a:pPr>
            <a:r>
              <a:t>Spring Data JDBC</a:t>
            </a:r>
          </a:p>
        </p:txBody>
      </p:sp>
      <p:pic>
        <p:nvPicPr>
          <p:cNvPr id="25" name="Picture 24" descr="icon_arrow_B9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3794760"/>
            <a:ext cx="429768" cy="42976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345168" y="2971800"/>
            <a:ext cx="2148840" cy="205740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database_8FC9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6688" y="3273552"/>
            <a:ext cx="594360" cy="594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36608" y="4087368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 i="0">
                <a:solidFill>
                  <a:srgbClr val="F0EDF8"/>
                </a:solidFill>
                <a:latin typeface="Palatino Linotype"/>
              </a:defRPr>
            </a:pPr>
            <a:r>
              <a:t>MariaDB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617720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B6AFC8"/>
                </a:solidFill>
                <a:latin typeface="Arial"/>
              </a:defRPr>
            </a:pPr>
            <a:r>
              <a:t>Schéma · contraintes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5577840"/>
            <a:ext cx="1463040" cy="329184"/>
          </a:xfrm>
          <a:prstGeom prst="roundRect">
            <a:avLst>
              <a:gd name="adj" fmla="val 45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563727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B9A4ED"/>
                </a:solidFill>
                <a:latin typeface="Arial"/>
              </a:defRPr>
            </a:pPr>
            <a:r>
              <a:t>MAPSTRUCT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5577840"/>
            <a:ext cx="1965960" cy="329184"/>
          </a:xfrm>
          <a:prstGeom prst="roundRect">
            <a:avLst>
              <a:gd name="adj" fmla="val 45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98648" y="563727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B9A4ED"/>
                </a:solidFill>
                <a:latin typeface="Arial"/>
              </a:defRPr>
            </a:pPr>
            <a:r>
              <a:t>BEAN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57216" y="5577840"/>
            <a:ext cx="1490472" cy="329184"/>
          </a:xfrm>
          <a:prstGeom prst="roundRect">
            <a:avLst>
              <a:gd name="adj" fmla="val 45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4" y="5637276"/>
            <a:ext cx="12710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B9A4ED"/>
                </a:solidFill>
                <a:latin typeface="Arial"/>
              </a:defRPr>
            </a:pPr>
            <a:r>
              <a:t>LIQUIBASE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577840"/>
            <a:ext cx="1865376" cy="329184"/>
          </a:xfrm>
          <a:prstGeom prst="roundRect">
            <a:avLst>
              <a:gd name="adj" fmla="val 45000"/>
            </a:avLst>
          </a:prstGeom>
          <a:solidFill>
            <a:srgbClr val="273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0608" y="563727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8FC9BE"/>
                </a:solidFill>
                <a:latin typeface="Arial"/>
              </a:defRPr>
            </a:pPr>
            <a:r>
              <a:t>SPRING BOOT 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08592" y="5577840"/>
            <a:ext cx="1353312" cy="329184"/>
          </a:xfrm>
          <a:prstGeom prst="roundRect">
            <a:avLst>
              <a:gd name="adj" fmla="val 45000"/>
            </a:avLst>
          </a:prstGeom>
          <a:solidFill>
            <a:srgbClr val="273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19" y="5637276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8FC9BE"/>
                </a:solidFill>
                <a:latin typeface="Arial"/>
              </a:defRPr>
            </a:pPr>
            <a:r>
              <a:t>JAVA 21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03 · LES CONTRATS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881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000" b="0" i="0">
                <a:solidFill>
                  <a:srgbClr val="F0EDF8"/>
                </a:solidFill>
                <a:latin typeface="Palatino Linotype"/>
              </a:defRPr>
            </a:pPr>
            <a:r>
              <a:t>Une histoire, sans chevauchement.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299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Un seul contrat couvrant une même période, pour un même employé.</a:t>
            </a:r>
          </a:p>
        </p:txBody>
      </p:sp>
      <p:pic>
        <p:nvPicPr>
          <p:cNvPr id="10" name="Picture 9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1051560" y="3867912"/>
            <a:ext cx="9921240" cy="0"/>
          </a:xfrm>
          <a:prstGeom prst="line">
            <a:avLst/>
          </a:prstGeom>
          <a:ln w="38100">
            <a:solidFill>
              <a:srgbClr val="C9B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39" y="3749039"/>
            <a:ext cx="237744" cy="237744"/>
          </a:xfrm>
          <a:prstGeom prst="ellipse">
            <a:avLst/>
          </a:prstGeom>
          <a:solidFill>
            <a:srgbClr val="B9A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79" y="290779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600" b="0" i="0">
                <a:solidFill>
                  <a:srgbClr val="F0EDF8"/>
                </a:solidFill>
                <a:latin typeface="Palatino Linotype"/>
              </a:defRPr>
            </a:pPr>
            <a:r>
              <a:t>Création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79" y="4343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B6AFC8"/>
                </a:solidFill>
                <a:latin typeface="Arial"/>
              </a:defRPr>
            </a:pPr>
            <a:r>
              <a:t>Date de début</a:t>
            </a:r>
          </a:p>
        </p:txBody>
      </p:sp>
      <p:sp>
        <p:nvSpPr>
          <p:cNvPr id="15" name="Oval 14"/>
          <p:cNvSpPr/>
          <p:nvPr/>
        </p:nvSpPr>
        <p:spPr>
          <a:xfrm>
            <a:off x="5394960" y="3749039"/>
            <a:ext cx="237744" cy="237744"/>
          </a:xfrm>
          <a:prstGeom prst="ellipse">
            <a:avLst/>
          </a:prstGeom>
          <a:solidFill>
            <a:srgbClr val="8F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90779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600" b="0" i="0">
                <a:solidFill>
                  <a:srgbClr val="F0EDF8"/>
                </a:solidFill>
                <a:latin typeface="Palatino Linotype"/>
              </a:defRPr>
            </a:pPr>
            <a:r>
              <a:t>En 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B6AFC8"/>
                </a:solidFill>
                <a:latin typeface="Arial"/>
              </a:defRPr>
            </a:pPr>
            <a:r>
              <a:t>Période valide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0" y="3749039"/>
            <a:ext cx="237744" cy="237744"/>
          </a:xfrm>
          <a:prstGeom prst="ellipse">
            <a:avLst/>
          </a:prstGeom>
          <a:solidFill>
            <a:srgbClr val="D7A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90779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600" b="0" i="0">
                <a:solidFill>
                  <a:srgbClr val="F0EDF8"/>
                </a:solidFill>
                <a:latin typeface="Palatino Linotype"/>
              </a:defRPr>
            </a:pPr>
            <a: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343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B6AFC8"/>
                </a:solidFill>
                <a:latin typeface="Arial"/>
              </a:defRPr>
            </a:pPr>
            <a:r>
              <a:t>Date de fin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9384" y="5193792"/>
            <a:ext cx="8366760" cy="621792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file_B9A4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5340096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61488" y="5404104"/>
            <a:ext cx="67665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F0EDF8"/>
                </a:solidFill>
                <a:latin typeface="Arial"/>
              </a:defRPr>
            </a:pPr>
            <a:r>
              <a:t>CDI  ·  CDD  ·  Stage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04 · LES CONGÉS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881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000" b="0" i="0">
                <a:solidFill>
                  <a:srgbClr val="F0EDF8"/>
                </a:solidFill>
                <a:latin typeface="Palatino Linotype"/>
              </a:defRPr>
            </a:pPr>
            <a:r>
              <a:t>Un congé. Une décision traçable.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299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Seules les demandes en attente peuvent changer d’état.</a:t>
            </a:r>
          </a:p>
        </p:txBody>
      </p:sp>
      <p:pic>
        <p:nvPicPr>
          <p:cNvPr id="10" name="Picture 9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9536" y="3264408"/>
            <a:ext cx="2377440" cy="105156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calendar_B9A4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547872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09928" y="363016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 i="0">
                <a:solidFill>
                  <a:srgbClr val="F0EDF8"/>
                </a:solidFill>
                <a:latin typeface="Palatino Linotype"/>
              </a:defRPr>
            </a:pPr>
            <a:r>
              <a:t>Demande</a:t>
            </a:r>
          </a:p>
        </p:txBody>
      </p:sp>
      <p:pic>
        <p:nvPicPr>
          <p:cNvPr id="14" name="Picture 13" descr="icon_arrow_B9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575304"/>
            <a:ext cx="475488" cy="4754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60520" y="3264408"/>
            <a:ext cx="2304288" cy="1051560"/>
          </a:xfrm>
          <a:prstGeom prst="roundRect">
            <a:avLst>
              <a:gd name="adj" fmla="val 14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3639312"/>
            <a:ext cx="195681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100" b="1" i="0">
                <a:solidFill>
                  <a:srgbClr val="B9A4ED"/>
                </a:solidFill>
                <a:latin typeface="Arial"/>
              </a:defRPr>
            </a:pPr>
            <a:r>
              <a:t>PENDING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3952" y="3767328"/>
            <a:ext cx="859536" cy="0"/>
          </a:xfrm>
          <a:prstGeom prst="line">
            <a:avLst/>
          </a:prstGeom>
          <a:ln w="20320">
            <a:solidFill>
              <a:srgbClr val="B9A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33488" y="2651760"/>
            <a:ext cx="0" cy="2331720"/>
          </a:xfrm>
          <a:prstGeom prst="line">
            <a:avLst/>
          </a:prstGeom>
          <a:ln w="20320">
            <a:solidFill>
              <a:srgbClr val="B9A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33488" y="2578608"/>
            <a:ext cx="502920" cy="0"/>
          </a:xfrm>
          <a:prstGeom prst="line">
            <a:avLst/>
          </a:prstGeom>
          <a:ln w="20320">
            <a:solidFill>
              <a:srgbClr val="B9A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45552" y="2194560"/>
            <a:ext cx="3346704" cy="795528"/>
          </a:xfrm>
          <a:prstGeom prst="roundRect">
            <a:avLst>
              <a:gd name="adj" fmla="val 14000"/>
            </a:avLst>
          </a:prstGeom>
          <a:solidFill>
            <a:srgbClr val="273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check_8FC9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377440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05088" y="2450591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 i="0">
                <a:solidFill>
                  <a:srgbClr val="8FC9BE"/>
                </a:solidFill>
                <a:latin typeface="Arial"/>
              </a:defRPr>
            </a:pPr>
            <a:r>
              <a:t>APPROVED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33488" y="3904488"/>
            <a:ext cx="502920" cy="0"/>
          </a:xfrm>
          <a:prstGeom prst="line">
            <a:avLst/>
          </a:prstGeom>
          <a:ln w="20320">
            <a:solidFill>
              <a:srgbClr val="B9A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45552" y="3520440"/>
            <a:ext cx="3346704" cy="795528"/>
          </a:xfrm>
          <a:prstGeom prst="roundRect">
            <a:avLst>
              <a:gd name="adj" fmla="val 14000"/>
            </a:avLst>
          </a:prstGeom>
          <a:solidFill>
            <a:srgbClr val="44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cross_D7A0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70332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05088" y="377647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 i="0">
                <a:solidFill>
                  <a:srgbClr val="D7A0BD"/>
                </a:solidFill>
                <a:latin typeface="Arial"/>
              </a:defRPr>
            </a:pPr>
            <a:r>
              <a:t>REJECTED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3488" y="5230368"/>
            <a:ext cx="502920" cy="0"/>
          </a:xfrm>
          <a:prstGeom prst="line">
            <a:avLst/>
          </a:prstGeom>
          <a:ln w="20320">
            <a:solidFill>
              <a:srgbClr val="B9A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45552" y="4846320"/>
            <a:ext cx="3346704" cy="795528"/>
          </a:xfrm>
          <a:prstGeom prst="roundRect">
            <a:avLst>
              <a:gd name="adj" fmla="val 14000"/>
            </a:avLst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person_B9A4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5029200"/>
            <a:ext cx="4114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05088" y="510235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 i="0">
                <a:solidFill>
                  <a:srgbClr val="B9A4ED"/>
                </a:solidFill>
                <a:latin typeface="Arial"/>
              </a:defRPr>
            </a:pPr>
            <a:r>
              <a:t>CANCELLED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451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B6AFC8"/>
                </a:solidFill>
                <a:latin typeface="Arial"/>
              </a:defRPr>
            </a:pPr>
            <a:r>
              <a:t>Employé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344" y="4864608"/>
            <a:ext cx="30723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B6AFC8"/>
                </a:solidFill>
                <a:latin typeface="Arial"/>
              </a:defRPr>
            </a:pPr>
            <a:r>
              <a:t>Manager : approuver / refuser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B6AFC8"/>
                </a:solidFill>
                <a:latin typeface="Arial"/>
              </a:defRPr>
            </a:pPr>
            <a:r>
              <a:t>Employé : annuler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05 · LE CALCUL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881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000" b="0" i="0">
                <a:solidFill>
                  <a:srgbClr val="F0EDF8"/>
                </a:solidFill>
                <a:latin typeface="Palatino Linotype"/>
              </a:defRPr>
            </a:pPr>
            <a:r>
              <a:t>Des soldes calculés. Jamais saisis.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299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Jours ouvrés = lundi à vendredi, dates comprises.</a:t>
            </a:r>
          </a:p>
        </p:txBody>
      </p:sp>
      <p:pic>
        <p:nvPicPr>
          <p:cNvPr id="10" name="Picture 9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2743200"/>
            <a:ext cx="3063240" cy="2587752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71800"/>
            <a:ext cx="255117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0" b="0" i="0">
                <a:solidFill>
                  <a:srgbClr val="B9A4ED"/>
                </a:solidFill>
                <a:latin typeface="Palatino Linotype"/>
              </a:defRPr>
            </a:pPr>
            <a: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71416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0" i="0">
                <a:solidFill>
                  <a:srgbClr val="F0EDF8"/>
                </a:solidFill>
                <a:latin typeface="Arial"/>
              </a:defRPr>
            </a:pPr>
            <a:r>
              <a:t>jours annuels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743200"/>
            <a:ext cx="3063240" cy="2587752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255117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0" b="0" i="0">
                <a:solidFill>
                  <a:srgbClr val="8FC9BE"/>
                </a:solidFill>
                <a:latin typeface="Palatino Linotype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471416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0" i="0">
                <a:solidFill>
                  <a:srgbClr val="F0EDF8"/>
                </a:solidFill>
                <a:latin typeface="Arial"/>
              </a:defRPr>
            </a:pPr>
            <a:r>
              <a:t>jours exceptionnels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24912"/>
            <a:ext cx="3246120" cy="2606040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alendarcheck_D7A0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962656"/>
            <a:ext cx="713232" cy="713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3986784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600" b="0" i="0">
                <a:solidFill>
                  <a:srgbClr val="F0EDF8"/>
                </a:solidFill>
                <a:latin typeface="Palatino Linotype"/>
              </a:defRPr>
            </a:pPr>
            <a:r>
              <a:t>Ven → Lun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4663440"/>
            <a:ext cx="25054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D7A0BD"/>
                </a:solidFill>
                <a:latin typeface="Arial"/>
              </a:defRPr>
            </a:pPr>
            <a:r>
              <a:t>2 jours ouvrés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87568"/>
            <a:ext cx="9966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400" b="0" i="0">
                <a:solidFill>
                  <a:srgbClr val="F0EDF8"/>
                </a:solidFill>
                <a:latin typeface="Palatino Linotype"/>
              </a:defRPr>
            </a:pPr>
            <a:r>
              <a:t>Quota annuel  −  jours approuvés de l’année  =  solde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06 · UNE API EXPLORABLE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8" name="Picture 7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1307592"/>
            <a:ext cx="36576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400" b="0" i="0">
                <a:solidFill>
                  <a:srgbClr val="F0EDF8"/>
                </a:solidFill>
                <a:latin typeface="Palatino Linotype"/>
              </a:defRPr>
            </a:pPr>
            <a:r>
              <a:t>Documenter.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4400" b="0" i="0">
                <a:solidFill>
                  <a:srgbClr val="F0EDF8"/>
                </a:solidFill>
                <a:latin typeface="Palatino Linotype"/>
              </a:defRPr>
            </a:pPr>
            <a:r>
              <a:t>Tester.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4400" b="0" i="0">
                <a:solidFill>
                  <a:srgbClr val="F0EDF8"/>
                </a:solidFill>
                <a:latin typeface="Palatino Linotype"/>
              </a:defRPr>
            </a:pPr>
            <a:r>
              <a:t>Comprendre.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4078224"/>
            <a:ext cx="33832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B6AFC8"/>
                </a:solidFill>
                <a:latin typeface="Arial"/>
              </a:defRPr>
            </a:pPr>
            <a:r>
              <a:t>Swagger UI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B6AFC8"/>
                </a:solidFill>
                <a:latin typeface="Arial"/>
              </a:defRPr>
            </a:pPr>
            <a:r>
              <a:t>JSON + form-data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B6AFC8"/>
                </a:solidFill>
                <a:latin typeface="Arial"/>
              </a:defRPr>
            </a:pPr>
            <a:r>
              <a:t>Réponses HTTP explicites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280160"/>
            <a:ext cx="6894576" cy="4681728"/>
          </a:xfrm>
          <a:prstGeom prst="roundRect">
            <a:avLst>
              <a:gd name="adj" fmla="val 14000"/>
            </a:avLst>
          </a:prstGeom>
          <a:solidFill>
            <a:srgbClr val="292B42"/>
          </a:solidFill>
          <a:ln w="8890">
            <a:solidFill>
              <a:srgbClr val="4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45152" y="1298448"/>
            <a:ext cx="6858000" cy="411480"/>
          </a:xfrm>
          <a:prstGeom prst="rect">
            <a:avLst/>
          </a:prstGeom>
          <a:solidFill>
            <a:srgbClr val="33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28032" y="1435608"/>
            <a:ext cx="73152" cy="73152"/>
          </a:xfrm>
          <a:prstGeom prst="ellipse">
            <a:avLst/>
          </a:prstGeom>
          <a:solidFill>
            <a:srgbClr val="DFA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10912" y="1435608"/>
            <a:ext cx="73152" cy="73152"/>
          </a:xfrm>
          <a:prstGeom prst="ellipse">
            <a:avLst/>
          </a:prstGeom>
          <a:solidFill>
            <a:srgbClr val="E0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93792" y="1435608"/>
            <a:ext cx="73152" cy="73152"/>
          </a:xfrm>
          <a:prstGeom prst="ellipse">
            <a:avLst/>
          </a:prstGeom>
          <a:solidFill>
            <a:srgbClr val="9BC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138988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0" i="0">
                <a:solidFill>
                  <a:srgbClr val="B6AFC8"/>
                </a:solidFill>
                <a:latin typeface="Arial"/>
              </a:defRPr>
            </a:pPr>
            <a:r>
              <a:t>localhost:8081/swagger-ui.html</a:t>
            </a:r>
          </a:p>
        </p:txBody>
      </p:sp>
      <p:pic>
        <p:nvPicPr>
          <p:cNvPr id="17" name="Picture 16" descr="swag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19656"/>
            <a:ext cx="6519672" cy="3849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8" y="5623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1" i="0">
                <a:solidFill>
                  <a:srgbClr val="B9A4ED"/>
                </a:solidFill>
                <a:latin typeface="Arial"/>
              </a:defRPr>
            </a:pPr>
            <a:r>
              <a:rPr u="none">
                <a:hlinkClick r:id="rId5"/>
              </a:rPr>
              <a:t>Ouvrir Swagger  ↗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07 · LA QUALITÉ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881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000" b="0" i="0">
                <a:solidFill>
                  <a:srgbClr val="F0EDF8"/>
                </a:solidFill>
                <a:latin typeface="Palatino Linotype"/>
              </a:defRPr>
            </a:pPr>
            <a:r>
              <a:t>La confiance se vérifie.</a:t>
            </a:r>
          </a:p>
        </p:txBody>
      </p:sp>
      <p:pic>
        <p:nvPicPr>
          <p:cNvPr id="9" name="Picture 8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2221992"/>
            <a:ext cx="5760720" cy="1947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600" b="0" i="0">
                <a:solidFill>
                  <a:srgbClr val="B9A4ED"/>
                </a:solidFill>
                <a:latin typeface="Palatino Linotype"/>
              </a:defRPr>
            </a:pPr>
            <a:r>
              <a:t>340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41655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100" b="0" i="0">
                <a:solidFill>
                  <a:srgbClr val="F0EDF8"/>
                </a:solidFill>
                <a:latin typeface="Palatino Linotype"/>
              </a:defRPr>
            </a:pPr>
            <a:r>
              <a:t>tests réussis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52303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Suite complète sur MariaDB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587752"/>
            <a:ext cx="621792" cy="621792"/>
          </a:xfrm>
          <a:prstGeom prst="ellipse">
            <a:avLst/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heck_B9A4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706624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2606040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 i="0">
                <a:solidFill>
                  <a:srgbClr val="F0EDF8"/>
                </a:solidFill>
                <a:latin typeface="Palatino Linotype"/>
              </a:defRPr>
            </a:pPr>
            <a:r>
              <a:t>Unitaires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310896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B6AFC8"/>
                </a:solidFill>
                <a:latin typeface="Arial"/>
              </a:defRPr>
            </a:pPr>
            <a:r>
              <a:t>Services · calculs · mappers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3685032"/>
            <a:ext cx="621792" cy="621792"/>
          </a:xfrm>
          <a:prstGeom prst="ellipse">
            <a:avLst/>
          </a:prstGeom>
          <a:solidFill>
            <a:srgbClr val="273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_8FC9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3803904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3703320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 i="0">
                <a:solidFill>
                  <a:srgbClr val="F0EDF8"/>
                </a:solidFill>
                <a:latin typeface="Palatino Linotype"/>
              </a:defRPr>
            </a:pPr>
            <a:r>
              <a:t>Intégration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420624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B6AFC8"/>
                </a:solidFill>
                <a:latin typeface="Arial"/>
              </a:defRPr>
            </a:pPr>
            <a:r>
              <a:t>Persistance · isolation · concurrence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4782312"/>
            <a:ext cx="621792" cy="621792"/>
          </a:xfrm>
          <a:prstGeom prst="ellipse">
            <a:avLst/>
          </a:prstGeom>
          <a:solidFill>
            <a:srgbClr val="3A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code_B9A4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901184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52360" y="4800600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 i="0">
                <a:solidFill>
                  <a:srgbClr val="F0EDF8"/>
                </a:solidFill>
                <a:latin typeface="Palatino Linotype"/>
              </a:defRPr>
            </a:pPr>
            <a:r>
              <a:t>Contrats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530352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B6AFC8"/>
                </a:solidFill>
                <a:latin typeface="Arial"/>
              </a:defRPr>
            </a:pPr>
            <a:r>
              <a:t>Validation · erreurs · OpenAPI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ere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301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 i="0">
                <a:solidFill>
                  <a:srgbClr val="F0EDF8"/>
                </a:solidFill>
                <a:latin typeface="Arial"/>
              </a:defRPr>
            </a:pPr>
            <a:r>
              <a:t>ATLASRH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01752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 i="0">
                <a:solidFill>
                  <a:srgbClr val="B6AFC8"/>
                </a:solidFill>
                <a:latin typeface="Arial"/>
              </a:defRPr>
            </a:pPr>
            <a:r>
              <a:t>ÉCHANGE ·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28232"/>
            <a:ext cx="11018520" cy="0"/>
          </a:xfrm>
          <a:prstGeom prst="line">
            <a:avLst/>
          </a:prstGeom>
          <a:ln w="6985">
            <a:solidFill>
              <a:srgbClr val="51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 i="0">
                <a:solidFill>
                  <a:srgbClr val="B6AFC8"/>
                </a:solidFill>
                <a:latin typeface="Arial"/>
              </a:defRPr>
            </a:pPr>
            <a:r>
              <a:t>SPRINT 3  /  API REST  /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B6AFC8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8" name="Picture 7" descr="icon_spark_B9A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859536"/>
            <a:ext cx="338328" cy="338328"/>
          </a:xfrm>
          <a:prstGeom prst="rect">
            <a:avLst/>
          </a:prstGeom>
        </p:spPr>
      </p:pic>
      <p:pic>
        <p:nvPicPr>
          <p:cNvPr id="9" name="Picture 8" descr="together_ellipse_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1362456"/>
            <a:ext cx="425196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" y="1883664"/>
            <a:ext cx="6217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0" b="0" i="0">
                <a:solidFill>
                  <a:srgbClr val="F0EDF8"/>
                </a:solidFill>
                <a:latin typeface="Palatino Linotype"/>
              </a:defRPr>
            </a:pPr>
            <a:r>
              <a:t>Merci.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685032"/>
            <a:ext cx="6035040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0" i="0">
                <a:solidFill>
                  <a:srgbClr val="F0EDF8"/>
                </a:solidFill>
                <a:latin typeface="Palatino Linotype"/>
              </a:defRPr>
            </a:pPr>
            <a:r>
              <a:t>Des données claires.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3000" b="0" i="0">
                <a:solidFill>
                  <a:srgbClr val="F0EDF8"/>
                </a:solidFill>
                <a:latin typeface="Palatino Linotype"/>
              </a:defRPr>
            </a:pPr>
            <a:r>
              <a:t>Des décisions sereines.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26694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B6AFC8"/>
                </a:solidFill>
                <a:latin typeface="Arial"/>
              </a:defRPr>
            </a:pPr>
            <a:r>
              <a:t>Questions &amp; démonstration complémentaire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A4ED"/>
      </a:hlink>
      <a:folHlink>
        <a:srgbClr val="B9A4E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AtlasRH — L’humain au centre</dc:title>
  <dc:subject>Soutenance V1 • API REST de gestion RH</dc:subject>
  <dc:creator>AtlasRH</dc:creator>
  <cp:keywords>AtlasRH, Ethereal, API REST, Spring Boot, RH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